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9009244fb34140" /><Relationship Type="http://schemas.openxmlformats.org/officeDocument/2006/relationships/extended-properties" Target="/docProps/app.xml" Id="R6fabe2acdefd431d" /><Relationship Type="http://schemas.openxmlformats.org/officeDocument/2006/relationships/officeDocument" Target="/ppt/presentation.xml" Id="R567cede1f24749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1d233c38194265"/>
  </p:sldMasterIdLst>
  <p:notesMasterIdLst>
    <p:notesMasterId xmlns:r="http://schemas.openxmlformats.org/officeDocument/2006/relationships" r:id="R1fb1f23ba5da41c7"/>
  </p:notesMasterIdLst>
  <p:sldIdLst>
    <p:sldId xmlns:r="http://schemas.openxmlformats.org/officeDocument/2006/relationships" id="256" r:id="Rf6761392ccae46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68458cbdbd415c" /><Relationship Type="http://schemas.openxmlformats.org/officeDocument/2006/relationships/slideMaster" Target="/ppt/slideMasters/slideMaster1.xml" Id="R041d233c38194265" /><Relationship Type="http://schemas.openxmlformats.org/officeDocument/2006/relationships/notesMaster" Target="/ppt/notesMasters/notesMaster1.xml" Id="R1fb1f23ba5da41c7" /><Relationship Type="http://schemas.openxmlformats.org/officeDocument/2006/relationships/presProps" Target="/ppt/presProps.xml" Id="Rdf5ffa545d1b4e34" /><Relationship Type="http://schemas.openxmlformats.org/officeDocument/2006/relationships/tableStyles" Target="/ppt/tableStyles.xml" Id="Rd1ec08a3ac4a46a2" /><Relationship Type="http://schemas.openxmlformats.org/officeDocument/2006/relationships/slide" Target="/ppt/slides/slide1.xml" Id="Rf6761392ccae46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c1b87454f43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8ecc526763474a" /><Relationship Type="http://schemas.openxmlformats.org/officeDocument/2006/relationships/notesMaster" Target="/ppt/notesMasters/notesMaster1.xml" Id="R93083d1397bc4c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1bbcca9c444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cbf728217542e5" /><Relationship Type="http://schemas.openxmlformats.org/officeDocument/2006/relationships/slideLayout" Target="/ppt/slideLayouts/slideLayout1.xml" Id="R896584290f5448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6584290f5448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d7a65242f41c9" /><Relationship Type="http://schemas.openxmlformats.org/officeDocument/2006/relationships/image" Target="/ppt/media/image.png" Id="R9a353d94aebb4450" /><Relationship Type="http://schemas.openxmlformats.org/officeDocument/2006/relationships/image" Target="/ppt/media/image2.png" Id="Re04bc4166c614fc8" /><Relationship Type="http://schemas.openxmlformats.org/officeDocument/2006/relationships/notesSlide" Target="/ppt/notesSlides/notesSlide1.xml" Id="R6988c2ff786047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rule">
            <a:extLst xmlns:a="http://schemas.openxmlformats.org/drawingml/2006/main">
              <a:ext uri="{FF2B5EF4-FFF2-40B4-BE49-F238E27FC236}">
                <a16:creationId xmlns:a16="http://schemas.microsoft.com/office/drawing/2014/main" id="{3FF6D1C7-5217-4A54-ADF1-712E5371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8BEF94B-82BB-4BD9-AE7E-EF17ACF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CPMP V4.0 FULL SNAPSHOT | OPEN120 + BF + CV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B6893C-AEB4-4AFD-8067-D133BC51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Hardness shows quality pressure after full coverage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14D1C16-5E91-4B42-9152-2172797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5555"/>
                </a:solidFill>
              </a:defRPr>
            </a:pPr>
            <a:r>
              <a:rPr sz="1200">
                <a:solidFill>
                  <a:srgbClr val="555555"/>
                </a:solidFill>
              </a:rPr>
              <a:t>V4.0 stable solves all 1,681 benchmark cases; the hard CV tail now appears as path-quality pressure rather than feasibility failure.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53d94aebb4450"/>
          <a:stretch xmlns:a="http://schemas.openxmlformats.org/drawingml/2006/main"/>
        </p:blipFill>
        <p:spPr>
          <a:xfrm xmlns:a="http://schemas.openxmlformats.org/drawingml/2006/main">
            <a:off x="398751" y="1466850"/>
            <a:ext cx="7184447" cy="4000500"/>
          </a:xfrm>
          <a:prstGeom xmlns:a="http://schemas.openxmlformats.org/drawingml/2006/main" prst="rect">
            <a:avLst/>
          </a:prstGeom>
        </p:spPr>
      </p:pic>
      <p:sp>
        <p:nvSpPr>
          <p:cNvPr id="6" name="right-rail-bg">
            <a:extLst xmlns:a="http://schemas.openxmlformats.org/drawingml/2006/main">
              <a:ext uri="{FF2B5EF4-FFF2-40B4-BE49-F238E27FC236}">
                <a16:creationId xmlns:a16="http://schemas.microsoft.com/office/drawing/2014/main" id="{F89AEE9E-4D50-4907-8CE6-FE8E9414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66850"/>
            <a:ext cx="39243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4D4D4"/>
            </a:solidFill>
            <a:prstDash val="solid"/>
          </a:ln>
        </p:spPr>
      </p:sp>
      <p:sp>
        <p:nvSpPr>
          <p:cNvPr id="7" name="right-rail-title">
            <a:extLst xmlns:a="http://schemas.openxmlformats.org/drawingml/2006/main">
              <a:ext uri="{FF2B5EF4-FFF2-40B4-BE49-F238E27FC236}">
                <a16:creationId xmlns:a16="http://schemas.microsoft.com/office/drawing/2014/main" id="{322B48FC-34F8-4C95-8A31-1616F56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Coverage against classic references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4bc4166c614fc8"/>
          <a:stretch xmlns:a="http://schemas.openxmlformats.org/drawingml/2006/main"/>
        </p:blipFill>
        <p:spPr>
          <a:xfrm xmlns:a="http://schemas.openxmlformats.org/drawingml/2006/main">
            <a:off x="8061402" y="2000250"/>
            <a:ext cx="3517745" cy="2152650"/>
          </a:xfrm>
          <a:prstGeom xmlns:a="http://schemas.openxmlformats.org/drawingml/2006/main" prst="rect">
            <a:avLst/>
          </a:prstGeom>
        </p:spPr>
      </p:pic>
      <p:sp>
        <p:nvSpPr>
          <p:cNvPr id="9" name="metric-rule">
            <a:extLst xmlns:a="http://schemas.openxmlformats.org/drawingml/2006/main">
              <a:ext uri="{FF2B5EF4-FFF2-40B4-BE49-F238E27FC236}">
                <a16:creationId xmlns:a16="http://schemas.microsoft.com/office/drawing/2014/main" id="{A474F77F-D241-45BD-8242-4FDEDD4B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67200"/>
            <a:ext cx="331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A1BD9CB7-AA73-43C8-892B-CDB2B763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0055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1681/1681 solved</a:t>
            </a:r>
          </a:p>
        </p:txBody>
      </p:sp>
      <p:sp>
        <p:nvSpPr>
          <p:cNvPr id="11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1AD8C32E-D450-432B-A1C4-A30E91DE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910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solved under the stable all-solved reporting standard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EE24C3B8-33B5-4111-89B7-B11A031C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BS-FRG pure: 1545/1561</a:t>
            </a:r>
          </a:p>
        </p:txBody>
      </p:sp>
      <p:sp>
        <p:nvSpPr>
          <p:cNvPr id="13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96E9BD5B-95CA-48F0-BB2A-0705D786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0542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paper-style reference, Open/Paper t20, no QUBO mainline</a:t>
            </a:r>
          </a:p>
        </p:txBody>
      </p:sp>
      <p:sp>
        <p:nvSpPr>
          <p:cNvPr id="14" name="metric-3">
            <a:extLst xmlns:a="http://schemas.openxmlformats.org/drawingml/2006/main">
              <a:ext uri="{FF2B5EF4-FFF2-40B4-BE49-F238E27FC236}">
                <a16:creationId xmlns:a16="http://schemas.microsoft.com/office/drawing/2014/main" id="{310D926B-1B26-496B-803F-4CE97AF4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5721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Classic beam: 84/120 open / 1310/1561 paper</a:t>
            </a:r>
          </a:p>
        </p:txBody>
      </p:sp>
      <p:sp>
        <p:nvSpPr>
          <p:cNvPr id="15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40FDAEA7-93F1-472D-BF93-D5A6497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9120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555555"/>
                </a:solidFill>
              </a:defRPr>
            </a:pPr>
            <a:r>
              <a:rPr sz="938">
                <a:solidFill>
                  <a:srgbClr val="555555"/>
                </a:solidFill>
              </a:rPr>
              <a:t>classic t120; A*: 30/30 Real30 only</a:t>
            </a:r>
          </a:p>
        </p:txBody>
      </p:sp>
      <p:sp>
        <p:nvSpPr>
          <p:cNvPr id="16" name="suite-note">
            <a:extLst xmlns:a="http://schemas.openxmlformats.org/drawingml/2006/main">
              <a:ext uri="{FF2B5EF4-FFF2-40B4-BE49-F238E27FC236}">
                <a16:creationId xmlns:a16="http://schemas.microsoft.com/office/drawing/2014/main" id="{D91E1346-AF15-4DF9-BBA7-FF2B3D67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Open120 120/120 / BF 721/721 / CV 840/840</a:t>
            </a:r>
          </a:p>
        </p:txBody>
      </p:sp>
      <p:sp>
        <p:nvSpPr>
          <p:cNvPr id="17" name="method-note">
            <a:extLst xmlns:a="http://schemas.openxmlformats.org/drawingml/2006/main">
              <a:ext uri="{FF2B5EF4-FFF2-40B4-BE49-F238E27FC236}">
                <a16:creationId xmlns:a16="http://schemas.microsoft.com/office/drawing/2014/main" id="{D26E2951-0D77-48BE-A731-8E45999B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Hardness = 0.30 size + 0.25 density + 0.30 initial bad ratio + 0.15 scarcity. Solution quality = relocations per container for the scatter; raw moves remain the same-case quality metric. Coverage is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812660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2026-07-09T03:50:55.5060000Z</dcterms:created>
  <dcterms:modified xsi:type="dcterms:W3CDTF">2026-07-09T03:50:55.5060000Z</dcterms:modified>
</coreProperties>
</file>
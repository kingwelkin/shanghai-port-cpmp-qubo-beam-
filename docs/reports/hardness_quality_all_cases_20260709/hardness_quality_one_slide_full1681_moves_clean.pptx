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b851f42244bc2" /><Relationship Type="http://schemas.openxmlformats.org/officeDocument/2006/relationships/extended-properties" Target="/docProps/app.xml" Id="R26f06556af99472c" /><Relationship Type="http://schemas.openxmlformats.org/officeDocument/2006/relationships/officeDocument" Target="/ppt/presentation.xml" Id="R1c2808241147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4c5a570490484e"/>
  </p:sldMasterIdLst>
  <p:notesMasterIdLst>
    <p:notesMasterId xmlns:r="http://schemas.openxmlformats.org/officeDocument/2006/relationships" r:id="R2bdcc7f681094196"/>
  </p:notesMasterIdLst>
  <p:sldIdLst>
    <p:sldId xmlns:r="http://schemas.openxmlformats.org/officeDocument/2006/relationships" id="256" r:id="R6d24f5b72f0a46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88150d26164fcb" /><Relationship Type="http://schemas.openxmlformats.org/officeDocument/2006/relationships/slideMaster" Target="/ppt/slideMasters/slideMaster1.xml" Id="R644c5a570490484e" /><Relationship Type="http://schemas.openxmlformats.org/officeDocument/2006/relationships/notesMaster" Target="/ppt/notesMasters/notesMaster1.xml" Id="R2bdcc7f681094196" /><Relationship Type="http://schemas.openxmlformats.org/officeDocument/2006/relationships/presProps" Target="/ppt/presProps.xml" Id="R86df17c9973f4994" /><Relationship Type="http://schemas.openxmlformats.org/officeDocument/2006/relationships/tableStyles" Target="/ppt/tableStyles.xml" Id="Ra0870744259748a2" /><Relationship Type="http://schemas.openxmlformats.org/officeDocument/2006/relationships/slide" Target="/ppt/slides/slide1.xml" Id="R6d24f5b72f0a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b4c0da299840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8768cae9204d83" /><Relationship Type="http://schemas.openxmlformats.org/officeDocument/2006/relationships/notesMaster" Target="/ppt/notesMasters/notesMaster1.xml" Id="R0358ce0b548541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413760aa148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e99f1e91f479a" /><Relationship Type="http://schemas.openxmlformats.org/officeDocument/2006/relationships/slideLayout" Target="/ppt/slideLayouts/slideLayout1.xml" Id="R3fde4af3f5b945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de4af3f5b945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44bf9a8a4475" /><Relationship Type="http://schemas.openxmlformats.org/officeDocument/2006/relationships/image" Target="/ppt/media/image.png" Id="Rf73c5846d28045ae" /><Relationship Type="http://schemas.openxmlformats.org/officeDocument/2006/relationships/image" Target="/ppt/media/image2.png" Id="R378463a43ed84c80" /><Relationship Type="http://schemas.openxmlformats.org/officeDocument/2006/relationships/notesSlide" Target="/ppt/notesSlides/notesSlide1.xml" Id="R4170b09b158445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BC7F55D2-3B2F-41EA-9FFB-CFF8903B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98EA0E2-A0E4-4D52-87EA-C2254F2C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CPMP V4.0 FULL SNAPSHOT | OPEN120 + BF + CV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D9EE1A-25DF-4955-B145-E8728E71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Hardness components expose remaining quality pressure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8939157-3C28-4628-A2E9-FD274788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V4.0 stable solves all 1,681 benchmark cases; total hardness and its components separate layout difficulty from path-length quality.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c5846d28045ae"/>
          <a:stretch xmlns:a="http://schemas.openxmlformats.org/drawingml/2006/main"/>
        </p:blipFill>
        <p:spPr>
          <a:xfrm xmlns:a="http://schemas.openxmlformats.org/drawingml/2006/main">
            <a:off x="455301" y="1466850"/>
            <a:ext cx="7071349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right-rail-bg">
            <a:extLst xmlns:a="http://schemas.openxmlformats.org/drawingml/2006/main">
              <a:ext uri="{FF2B5EF4-FFF2-40B4-BE49-F238E27FC236}">
                <a16:creationId xmlns:a16="http://schemas.microsoft.com/office/drawing/2014/main" id="{B99C9894-449F-444F-944C-1EBC7BCB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66850"/>
            <a:ext cx="39243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right-rail-title">
            <a:extLst xmlns:a="http://schemas.openxmlformats.org/drawingml/2006/main">
              <a:ext uri="{FF2B5EF4-FFF2-40B4-BE49-F238E27FC236}">
                <a16:creationId xmlns:a16="http://schemas.microsoft.com/office/drawing/2014/main" id="{5AA4D687-72F8-45A6-9BA9-6C87903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Coverage and path length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463a43ed84c80"/>
          <a:stretch xmlns:a="http://schemas.openxmlformats.org/drawingml/2006/main"/>
        </p:blipFill>
        <p:spPr>
          <a:xfrm xmlns:a="http://schemas.openxmlformats.org/drawingml/2006/main">
            <a:off x="8020050" y="2023884"/>
            <a:ext cx="3600450" cy="2200633"/>
          </a:xfrm>
          <a:prstGeom xmlns:a="http://schemas.openxmlformats.org/drawingml/2006/main" prst="rect">
            <a:avLst/>
          </a:prstGeom>
        </p:spPr>
      </p:pic>
      <p:sp>
        <p:nvSpPr>
          <p:cNvPr id="9" name="metric-rule">
            <a:extLst xmlns:a="http://schemas.openxmlformats.org/drawingml/2006/main">
              <a:ext uri="{FF2B5EF4-FFF2-40B4-BE49-F238E27FC236}">
                <a16:creationId xmlns:a16="http://schemas.microsoft.com/office/drawing/2014/main" id="{1159B520-B63C-4ACA-8576-21DF4F52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34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B3A30BC0-B263-4230-8359-C95FAA0D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1681/1681 solved</a:t>
            </a:r>
          </a:p>
        </p:txBody>
      </p:sp>
      <p:sp>
        <p:nvSpPr>
          <p:cNvPr id="11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E8806043-E753-4D54-B4C9-84C8B5EB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55555"/>
                </a:solidFill>
              </a:defRPr>
            </a:pPr>
            <a:r>
              <a:rPr sz="938">
                <a:solidFill>
                  <a:srgbClr val="555555"/>
                </a:solidFill>
              </a:rPr>
              <a:t>113,348 polish moves before stable guard patches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7FE01738-9B6E-4517-AB27-D3C522FE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BS-FRG: 1545/1561, moves 97808</a:t>
            </a:r>
          </a:p>
        </p:txBody>
      </p:sp>
      <p:sp>
        <p:nvSpPr>
          <p:cNvPr id="13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679928C9-B586-4C9E-8DF0-A4861DCF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53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555555"/>
                </a:solidFill>
              </a:defRPr>
            </a:pPr>
            <a:r>
              <a:rPr sz="915">
                <a:solidFill>
                  <a:srgbClr val="555555"/>
                </a:solidFill>
              </a:rPr>
              <a:t>Real30 30/30, moves 516; t20 reference</a:t>
            </a:r>
          </a:p>
        </p:txBody>
      </p:sp>
      <p:sp>
        <p:nvSpPr>
          <p:cNvPr id="14" name="metric-3">
            <a:extLst xmlns:a="http://schemas.openxmlformats.org/drawingml/2006/main">
              <a:ext uri="{FF2B5EF4-FFF2-40B4-BE49-F238E27FC236}">
                <a16:creationId xmlns:a16="http://schemas.microsoft.com/office/drawing/2014/main" id="{B21D7CD9-38CD-453B-B632-906C23AA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816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FF6B35"/>
                </a:solidFill>
              </a:defRPr>
            </a:pPr>
            <a:r>
              <a:rPr sz="1163" b="1">
                <a:solidFill>
                  <a:srgbClr val="FF6B35"/>
                </a:solidFill>
              </a:rPr>
              <a:t>Wang BS-B: 903/1561, moves 32650</a:t>
            </a:r>
          </a:p>
        </p:txBody>
      </p:sp>
      <p:sp>
        <p:nvSpPr>
          <p:cNvPr id="15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BF71320E-D41F-4DEA-970A-01ABC01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72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>
                <a:solidFill>
                  <a:srgbClr val="555555"/>
                </a:solidFill>
              </a:defRPr>
            </a:pPr>
            <a:r>
              <a:rPr sz="870">
                <a:solidFill>
                  <a:srgbClr val="555555"/>
                </a:solidFill>
              </a:rPr>
              <a:t>Classic 1310/1561; A* Real30 30/30, moves 514</a:t>
            </a:r>
          </a:p>
        </p:txBody>
      </p:sp>
      <p:sp>
        <p:nvSpPr>
          <p:cNvPr id="16" name="suite-note">
            <a:extLst xmlns:a="http://schemas.openxmlformats.org/drawingml/2006/main">
              <a:ext uri="{FF2B5EF4-FFF2-40B4-BE49-F238E27FC236}">
                <a16:creationId xmlns:a16="http://schemas.microsoft.com/office/drawing/2014/main" id="{75E2A8B5-99A7-424B-8AA4-2AFFC4A2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Open120 120/120 / BF 721/721 / CV 840/840</a:t>
            </a:r>
          </a:p>
        </p:txBody>
      </p:sp>
      <p:sp>
        <p:nvSpPr>
          <p:cNvPr id="17" name="method-note">
            <a:extLst xmlns:a="http://schemas.openxmlformats.org/drawingml/2006/main">
              <a:ext uri="{FF2B5EF4-FFF2-40B4-BE49-F238E27FC236}">
                <a16:creationId xmlns:a16="http://schemas.microsoft.com/office/drawing/2014/main" id="{CD534CE7-EFE8-41A9-88E3-3074DC6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Hardness = 0.30 size + 0.25 density + 0.30 initial bad ratio + 0.15 scarcity. V4.0 coverage uses stable all-solved rows; V4.0 path length reports polish/repaired mainline moves before guard patches.</a:t>
            </a:r>
          </a:p>
        </p:txBody>
      </p:sp>
    </p:spTree>
    <p:extLst>
      <p:ext uri="{BB962C8B-B14F-4D97-AF65-F5344CB8AC3E}">
        <p14:creationId xmlns:p14="http://schemas.microsoft.com/office/powerpoint/2010/main" val="1692172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2026-07-09T06:10:07.4510000Z</dcterms:created>
  <dcterms:modified xsi:type="dcterms:W3CDTF">2026-07-09T06:10:07.4510000Z</dcterms:modified>
</coreProperties>
</file>
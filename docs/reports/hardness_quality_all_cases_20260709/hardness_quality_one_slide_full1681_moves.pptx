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457f6535e5426b" /><Relationship Type="http://schemas.openxmlformats.org/officeDocument/2006/relationships/extended-properties" Target="/docProps/app.xml" Id="R0571c116e0024b3e" /><Relationship Type="http://schemas.openxmlformats.org/officeDocument/2006/relationships/officeDocument" Target="/ppt/presentation.xml" Id="Reb25f62c96354b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f72e114a63448a"/>
  </p:sldMasterIdLst>
  <p:notesMasterIdLst>
    <p:notesMasterId xmlns:r="http://schemas.openxmlformats.org/officeDocument/2006/relationships" r:id="Ra9a41f02b3b04b5e"/>
  </p:notesMasterIdLst>
  <p:sldIdLst>
    <p:sldId xmlns:r="http://schemas.openxmlformats.org/officeDocument/2006/relationships" id="256" r:id="R43b9bf3b5ae446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7ab26c58484c75" /><Relationship Type="http://schemas.openxmlformats.org/officeDocument/2006/relationships/slideMaster" Target="/ppt/slideMasters/slideMaster1.xml" Id="R1cf72e114a63448a" /><Relationship Type="http://schemas.openxmlformats.org/officeDocument/2006/relationships/notesMaster" Target="/ppt/notesMasters/notesMaster1.xml" Id="Ra9a41f02b3b04b5e" /><Relationship Type="http://schemas.openxmlformats.org/officeDocument/2006/relationships/presProps" Target="/ppt/presProps.xml" Id="Rbd2b7be72808409c" /><Relationship Type="http://schemas.openxmlformats.org/officeDocument/2006/relationships/tableStyles" Target="/ppt/tableStyles.xml" Id="R985d60de3c004f68" /><Relationship Type="http://schemas.openxmlformats.org/officeDocument/2006/relationships/slide" Target="/ppt/slides/slide1.xml" Id="R43b9bf3b5ae446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cb9add361b42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56890624524e06" /><Relationship Type="http://schemas.openxmlformats.org/officeDocument/2006/relationships/notesMaster" Target="/ppt/notesMasters/notesMaster1.xml" Id="R7404b2580fa349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d058a2819846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ee867a44cc411c" /><Relationship Type="http://schemas.openxmlformats.org/officeDocument/2006/relationships/slideLayout" Target="/ppt/slideLayouts/slideLayout1.xml" Id="R86e260f2a59046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e260f2a59046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70044841c4f08" /><Relationship Type="http://schemas.openxmlformats.org/officeDocument/2006/relationships/image" Target="/ppt/media/image.png" Id="R077c30265eb4483b" /><Relationship Type="http://schemas.openxmlformats.org/officeDocument/2006/relationships/image" Target="/ppt/media/image2.png" Id="Re8a8ce2be2bd47ae" /><Relationship Type="http://schemas.openxmlformats.org/officeDocument/2006/relationships/notesSlide" Target="/ppt/notesSlides/notesSlide1.xml" Id="R5114d8eeed6a49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D0D14E0B-D50E-4968-8C22-110C071A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DAF79F0-0693-45F8-8D2A-E7C66A29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CPMP V4.0 FULL SNAPSHOT | OPEN120 + BF + CV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99C24B-2250-4199-A8A4-18031A94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Hardness components expose remaining quality pressure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00F4ECC3-3E8C-48A0-88AC-39B2A301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V4.0 stable solves all 1,681 benchmark cases; total hardness and its components separate layout difficulty from path-length quality.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c30265eb4483b"/>
          <a:stretch xmlns:a="http://schemas.openxmlformats.org/drawingml/2006/main"/>
        </p:blipFill>
        <p:spPr>
          <a:xfrm xmlns:a="http://schemas.openxmlformats.org/drawingml/2006/main">
            <a:off x="455301" y="1466850"/>
            <a:ext cx="7071349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right-rail-bg">
            <a:extLst xmlns:a="http://schemas.openxmlformats.org/drawingml/2006/main">
              <a:ext uri="{FF2B5EF4-FFF2-40B4-BE49-F238E27FC236}">
                <a16:creationId xmlns:a16="http://schemas.microsoft.com/office/drawing/2014/main" id="{279582FF-ABD2-4CE4-93FC-1B01D16B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466850"/>
            <a:ext cx="39243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7" name="right-rail-title">
            <a:extLst xmlns:a="http://schemas.openxmlformats.org/drawingml/2006/main">
              <a:ext uri="{FF2B5EF4-FFF2-40B4-BE49-F238E27FC236}">
                <a16:creationId xmlns:a16="http://schemas.microsoft.com/office/drawing/2014/main" id="{EB24EC09-0CD2-427D-8C1F-9425F6E2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Coverage and path length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8ce2be2bd47ae"/>
          <a:stretch xmlns:a="http://schemas.openxmlformats.org/drawingml/2006/main"/>
        </p:blipFill>
        <p:spPr>
          <a:xfrm xmlns:a="http://schemas.openxmlformats.org/drawingml/2006/main">
            <a:off x="8020050" y="2023884"/>
            <a:ext cx="3600450" cy="2200633"/>
          </a:xfrm>
          <a:prstGeom xmlns:a="http://schemas.openxmlformats.org/drawingml/2006/main" prst="rect">
            <a:avLst/>
          </a:prstGeom>
        </p:spPr>
      </p:pic>
      <p:sp>
        <p:nvSpPr>
          <p:cNvPr id="9" name="metric-rule">
            <a:extLst xmlns:a="http://schemas.openxmlformats.org/drawingml/2006/main">
              <a:ext uri="{FF2B5EF4-FFF2-40B4-BE49-F238E27FC236}">
                <a16:creationId xmlns:a16="http://schemas.microsoft.com/office/drawing/2014/main" id="{98E147EF-1941-4A02-8360-6D9777FB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4340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metric-1">
            <a:extLst xmlns:a="http://schemas.openxmlformats.org/drawingml/2006/main">
              <a:ext uri="{FF2B5EF4-FFF2-40B4-BE49-F238E27FC236}">
                <a16:creationId xmlns:a16="http://schemas.microsoft.com/office/drawing/2014/main" id="{2509D21E-4AD4-4DC7-AA57-9071C768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386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1681/1681 solved</a:t>
            </a:r>
          </a:p>
        </p:txBody>
      </p:sp>
      <p:sp>
        <p:nvSpPr>
          <p:cNvPr id="11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74DBF8CB-BBBC-41F8-9842-FA988DFB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555555"/>
                </a:solidFill>
              </a:defRPr>
            </a:pPr>
            <a:r>
              <a:rPr sz="938">
                <a:solidFill>
                  <a:srgbClr val="555555"/>
                </a:solidFill>
              </a:rPr>
              <a:t>113,348 polish moves before stable guard patches (1678/1681 solved)</a:t>
            </a:r>
          </a:p>
        </p:txBody>
      </p:sp>
      <p:sp>
        <p:nvSpPr>
          <p:cNvPr id="12" name="metric-2">
            <a:extLst xmlns:a="http://schemas.openxmlformats.org/drawingml/2006/main">
              <a:ext uri="{FF2B5EF4-FFF2-40B4-BE49-F238E27FC236}">
                <a16:creationId xmlns:a16="http://schemas.microsoft.com/office/drawing/2014/main" id="{0771BFDA-525B-4C0F-AB76-01394115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435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BS-FRG: 1545/1561, moves 97808</a:t>
            </a:r>
          </a:p>
        </p:txBody>
      </p:sp>
      <p:sp>
        <p:nvSpPr>
          <p:cNvPr id="13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1D2FC56D-0734-443C-9B38-C53DD9B5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53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15">
                <a:solidFill>
                  <a:srgbClr val="555555"/>
                </a:solidFill>
              </a:defRPr>
            </a:pPr>
            <a:r>
              <a:rPr sz="915">
                <a:solidFill>
                  <a:srgbClr val="555555"/>
                </a:solidFill>
              </a:rPr>
              <a:t>Real30 30/30, moves 516; t20 reference</a:t>
            </a:r>
          </a:p>
        </p:txBody>
      </p:sp>
      <p:sp>
        <p:nvSpPr>
          <p:cNvPr id="14" name="metric-3">
            <a:extLst xmlns:a="http://schemas.openxmlformats.org/drawingml/2006/main">
              <a:ext uri="{FF2B5EF4-FFF2-40B4-BE49-F238E27FC236}">
                <a16:creationId xmlns:a16="http://schemas.microsoft.com/office/drawing/2014/main" id="{8F06D1C1-B164-4605-8C24-437CD44E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5816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FF6B35"/>
                </a:solidFill>
              </a:defRPr>
            </a:pPr>
            <a:r>
              <a:rPr sz="1163" b="1">
                <a:solidFill>
                  <a:srgbClr val="FF6B35"/>
                </a:solidFill>
              </a:rPr>
              <a:t>Wang BS-B: 903/1561, moves 32650</a:t>
            </a:r>
          </a:p>
        </p:txBody>
      </p:sp>
      <p:sp>
        <p:nvSpPr>
          <p:cNvPr id="15" name="metric-3-label">
            <a:extLst xmlns:a="http://schemas.openxmlformats.org/drawingml/2006/main">
              <a:ext uri="{FF2B5EF4-FFF2-40B4-BE49-F238E27FC236}">
                <a16:creationId xmlns:a16="http://schemas.microsoft.com/office/drawing/2014/main" id="{5DA9E9F5-9FA5-40F3-87B6-559530B7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721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70">
                <a:solidFill>
                  <a:srgbClr val="555555"/>
                </a:solidFill>
              </a:defRPr>
            </a:pPr>
            <a:r>
              <a:rPr sz="870">
                <a:solidFill>
                  <a:srgbClr val="555555"/>
                </a:solidFill>
              </a:rPr>
              <a:t>Classic 1310/1561; A* Real30 30/30, moves 514</a:t>
            </a:r>
          </a:p>
        </p:txBody>
      </p:sp>
      <p:sp>
        <p:nvSpPr>
          <p:cNvPr id="16" name="suite-note">
            <a:extLst xmlns:a="http://schemas.openxmlformats.org/drawingml/2006/main">
              <a:ext uri="{FF2B5EF4-FFF2-40B4-BE49-F238E27FC236}">
                <a16:creationId xmlns:a16="http://schemas.microsoft.com/office/drawing/2014/main" id="{B7012BCB-7B7E-454C-8C27-345ECCF3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Open120 120/120 / BF 721/721 / CV 840/840</a:t>
            </a:r>
          </a:p>
        </p:txBody>
      </p:sp>
      <p:sp>
        <p:nvSpPr>
          <p:cNvPr id="17" name="method-note">
            <a:extLst xmlns:a="http://schemas.openxmlformats.org/drawingml/2006/main">
              <a:ext uri="{FF2B5EF4-FFF2-40B4-BE49-F238E27FC236}">
                <a16:creationId xmlns:a16="http://schemas.microsoft.com/office/drawing/2014/main" id="{023870EC-2A0A-441B-89ED-6AC64C69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Hardness = 0.30 size + 0.25 density + 0.30 initial bad ratio + 0.15 scarcity. V4.0 coverage uses stable all-solved rows; V4.0 path length reports polish/repaired mainline moves before guard patches.</a:t>
            </a:r>
          </a:p>
        </p:txBody>
      </p:sp>
    </p:spTree>
    <p:extLst>
      <p:ext uri="{BB962C8B-B14F-4D97-AF65-F5344CB8AC3E}">
        <p14:creationId xmlns:p14="http://schemas.microsoft.com/office/powerpoint/2010/main" val="6638572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2026-07-09T05:02:50.2210000Z</dcterms:created>
  <dcterms:modified xsi:type="dcterms:W3CDTF">2026-07-09T05:02:50.2210000Z</dcterms:modified>
</coreProperties>
</file>
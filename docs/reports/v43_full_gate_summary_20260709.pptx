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10f7ba88e24f4b" /><Relationship Type="http://schemas.openxmlformats.org/officeDocument/2006/relationships/extended-properties" Target="/docProps/app.xml" Id="R9b0e762075644b42" /><Relationship Type="http://schemas.openxmlformats.org/officeDocument/2006/relationships/officeDocument" Target="/ppt/presentation.xml" Id="R28b287d964aa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392bbaea4422b"/>
  </p:sldMasterIdLst>
  <p:notesMasterIdLst>
    <p:notesMasterId xmlns:r="http://schemas.openxmlformats.org/officeDocument/2006/relationships" r:id="R82d1ba08a6ba497b"/>
  </p:notesMasterIdLst>
  <p:sldIdLst>
    <p:sldId xmlns:r="http://schemas.openxmlformats.org/officeDocument/2006/relationships" id="256" r:id="Rc4a13ef4e7b84a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623ced0ed419b" /><Relationship Type="http://schemas.openxmlformats.org/officeDocument/2006/relationships/slideMaster" Target="/ppt/slideMasters/slideMaster1.xml" Id="R6b2392bbaea4422b" /><Relationship Type="http://schemas.openxmlformats.org/officeDocument/2006/relationships/notesMaster" Target="/ppt/notesMasters/notesMaster1.xml" Id="R82d1ba08a6ba497b" /><Relationship Type="http://schemas.openxmlformats.org/officeDocument/2006/relationships/presProps" Target="/ppt/presProps.xml" Id="Rbdf678c30f1d4180" /><Relationship Type="http://schemas.openxmlformats.org/officeDocument/2006/relationships/tableStyles" Target="/ppt/tableStyles.xml" Id="Rcecd942539854011" /><Relationship Type="http://schemas.openxmlformats.org/officeDocument/2006/relationships/slide" Target="/ppt/slides/slide1.xml" Id="Rc4a13ef4e7b84a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5564b9388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517df1d99475e" /><Relationship Type="http://schemas.openxmlformats.org/officeDocument/2006/relationships/notesMaster" Target="/ppt/notesMasters/notesMaster1.xml" Id="R543deb9f5a05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2cbf24a724b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5895922c54a74" /><Relationship Type="http://schemas.openxmlformats.org/officeDocument/2006/relationships/slideLayout" Target="/ppt/slideLayouts/slideLayout1.xml" Id="R1a4192ceb09445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192ceb09445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451c92ae94d53" /><Relationship Type="http://schemas.openxmlformats.org/officeDocument/2006/relationships/image" Target="/ppt/media/image.png" Id="R92653b854f7f4c45" /><Relationship Type="http://schemas.openxmlformats.org/officeDocument/2006/relationships/notesSlide" Target="/ppt/notesSlides/notesSlide1.xml" Id="R8edf75d811e24b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873C9FF9-8EFD-42AD-AD24-FE812F6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FE9B495-5067-45B6-8607-AC12B80E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CPMP V4.3 快照 | REAL30 + OPEN120 + BF + CV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EF3377-B909-47F5-BEA7-23884FD2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难度逐项指标解释了为什么全解还不等于短路径质量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2F01DDD-AD03-44BF-B873-77AC104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左侧沿用同一难度定义与逐项诊断；右侧将旧主线替换为 v4.3，同时保留论文与经典基线的既有证据口径。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53b854f7f4c45"/>
          <a:stretch xmlns:a="http://schemas.openxmlformats.org/drawingml/2006/main"/>
        </p:blipFill>
        <p:spPr>
          <a:xfrm xmlns:a="http://schemas.openxmlformats.org/drawingml/2006/main">
            <a:off x="323850" y="1473638"/>
            <a:ext cx="7334250" cy="3986924"/>
          </a:xfrm>
          <a:prstGeom xmlns:a="http://schemas.openxmlformats.org/drawingml/2006/main" prst="rect">
            <a:avLst/>
          </a:prstGeom>
        </p:spPr>
      </p:pic>
      <p:sp>
        <p:nvSpPr>
          <p:cNvPr id="6" name="right-rail-bg">
            <a:extLst xmlns:a="http://schemas.openxmlformats.org/drawingml/2006/main">
              <a:ext uri="{FF2B5EF4-FFF2-40B4-BE49-F238E27FC236}">
                <a16:creationId xmlns:a16="http://schemas.microsoft.com/office/drawing/2014/main" id="{E7878D60-1610-4870-A177-DDB4C839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9243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right-rail-title">
            <a:extLst xmlns:a="http://schemas.openxmlformats.org/drawingml/2006/main">
              <a:ext uri="{FF2B5EF4-FFF2-40B4-BE49-F238E27FC236}">
                <a16:creationId xmlns:a16="http://schemas.microsoft.com/office/drawing/2014/main" id="{C27B02F4-B490-4855-97EA-8568BC3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解出率与已解路径步数</a:t>
            </a:r>
          </a:p>
        </p:txBody>
      </p:sp>
      <p:sp>
        <p:nvSpPr>
          <p:cNvPr id="8" name="right-rail-subtitle">
            <a:extLst xmlns:a="http://schemas.openxmlformats.org/drawingml/2006/main">
              <a:ext uri="{FF2B5EF4-FFF2-40B4-BE49-F238E27FC236}">
                <a16:creationId xmlns:a16="http://schemas.microsoft.com/office/drawing/2014/main" id="{51D607C7-218C-47AF-A5F0-973D5EE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每个单元格显示解出数量与已解算例总步数。</a:t>
            </a:r>
          </a:p>
        </p:txBody>
      </p:sp>
      <p:sp>
        <p:nvSpPr>
          <p:cNvPr id="9" name="matrix-outer">
            <a:extLst xmlns:a="http://schemas.openxmlformats.org/drawingml/2006/main">
              <a:ext uri="{FF2B5EF4-FFF2-40B4-BE49-F238E27FC236}">
                <a16:creationId xmlns:a16="http://schemas.microsoft.com/office/drawing/2014/main" id="{7F5D2214-BD11-4F24-A7F2-04DC1D7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0275"/>
            <a:ext cx="361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0" name="matrix-header-bg">
            <a:extLst xmlns:a="http://schemas.openxmlformats.org/drawingml/2006/main">
              <a:ext uri="{FF2B5EF4-FFF2-40B4-BE49-F238E27FC236}">
                <a16:creationId xmlns:a16="http://schemas.microsoft.com/office/drawing/2014/main" id="{F64538EE-9E18-4BA7-89B3-8B15295E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0275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matrix-header-alg">
            <a:extLst xmlns:a="http://schemas.openxmlformats.org/drawingml/2006/main">
              <a:ext uri="{FF2B5EF4-FFF2-40B4-BE49-F238E27FC236}">
                <a16:creationId xmlns:a16="http://schemas.microsoft.com/office/drawing/2014/main" id="{132C86DC-103B-4D96-BD00-AF2ECB5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2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AA108938-1788-42E3-9B45-97DD3DC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76475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Real30</a:t>
            </a:r>
          </a:p>
        </p:txBody>
      </p:sp>
      <p:sp>
        <p:nvSpPr>
          <p:cNvPr id="13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8852106B-7211-40A2-B00B-5EB775CD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76475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Open120</a:t>
            </a:r>
          </a:p>
        </p:txBody>
      </p:sp>
      <p:sp>
        <p:nvSpPr>
          <p:cNvPr id="14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D61F361F-F08B-4756-9E0D-E324F80F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76475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BF</a:t>
            </a:r>
          </a:p>
        </p:txBody>
      </p:sp>
      <p:sp>
        <p:nvSpPr>
          <p:cNvPr id="15" name="matrix-header-3">
            <a:extLst xmlns:a="http://schemas.openxmlformats.org/drawingml/2006/main">
              <a:ext uri="{FF2B5EF4-FFF2-40B4-BE49-F238E27FC236}">
                <a16:creationId xmlns:a16="http://schemas.microsoft.com/office/drawing/2014/main" id="{231675B6-FE81-4B22-BFA1-09984337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76475"/>
            <a:ext cx="600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CV</a:t>
            </a:r>
          </a:p>
        </p:txBody>
      </p:sp>
      <p:sp>
        <p:nvSpPr>
          <p:cNvPr id="16" name="matrix-row-0-label-bg">
            <a:extLst xmlns:a="http://schemas.openxmlformats.org/drawingml/2006/main">
              <a:ext uri="{FF2B5EF4-FFF2-40B4-BE49-F238E27FC236}">
                <a16:creationId xmlns:a16="http://schemas.microsoft.com/office/drawing/2014/main" id="{E44A893A-8E74-462A-A1B2-322DD7B7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91440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17" name="matrix-row-0-label">
            <a:extLst xmlns:a="http://schemas.openxmlformats.org/drawingml/2006/main">
              <a:ext uri="{FF2B5EF4-FFF2-40B4-BE49-F238E27FC236}">
                <a16:creationId xmlns:a16="http://schemas.microsoft.com/office/drawing/2014/main" id="{A04F9E14-D97B-4B1F-BBE1-BF576FE0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28900"/>
            <a:ext cx="80010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v4.3 主线</a:t>
            </a:r>
          </a:p>
        </p:txBody>
      </p:sp>
      <p:sp>
        <p:nvSpPr>
          <p:cNvPr id="18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D176BE54-23C2-4E64-900D-0A1C1D35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2412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19" name="matrix-cell-0-0-label">
            <a:extLst xmlns:a="http://schemas.openxmlformats.org/drawingml/2006/main">
              <a:ext uri="{FF2B5EF4-FFF2-40B4-BE49-F238E27FC236}">
                <a16:creationId xmlns:a16="http://schemas.microsoft.com/office/drawing/2014/main" id="{1C3F462C-4A37-4A8A-9C77-5892E08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03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30/30</a:t>
            </a:r>
          </a:p>
        </p:txBody>
      </p:sp>
      <p:sp>
        <p:nvSpPr>
          <p:cNvPr id="20" name="matrix-cell-0-0-moves">
            <a:extLst xmlns:a="http://schemas.openxmlformats.org/drawingml/2006/main">
              <a:ext uri="{FF2B5EF4-FFF2-40B4-BE49-F238E27FC236}">
                <a16:creationId xmlns:a16="http://schemas.microsoft.com/office/drawing/2014/main" id="{D634D9C9-920B-4470-9BE5-BC2A0AF5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525 步</a:t>
            </a:r>
          </a:p>
        </p:txBody>
      </p:sp>
      <p:sp>
        <p:nvSpPr>
          <p:cNvPr id="21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3E6AEA47-3E67-4ED3-AB51-126C43D9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2412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22" name="matrix-cell-0-1-label">
            <a:extLst xmlns:a="http://schemas.openxmlformats.org/drawingml/2006/main">
              <a:ext uri="{FF2B5EF4-FFF2-40B4-BE49-F238E27FC236}">
                <a16:creationId xmlns:a16="http://schemas.microsoft.com/office/drawing/2014/main" id="{C48C7654-D34C-422D-BF89-BD8A40EB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003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120/120</a:t>
            </a:r>
          </a:p>
        </p:txBody>
      </p:sp>
      <p:sp>
        <p:nvSpPr>
          <p:cNvPr id="23" name="matrix-cell-0-1-moves">
            <a:extLst xmlns:a="http://schemas.openxmlformats.org/drawingml/2006/main">
              <a:ext uri="{FF2B5EF4-FFF2-40B4-BE49-F238E27FC236}">
                <a16:creationId xmlns:a16="http://schemas.microsoft.com/office/drawing/2014/main" id="{DCEA907B-F6B3-460D-93F3-2589BA4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8130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3,759 步</a:t>
            </a:r>
          </a:p>
        </p:txBody>
      </p:sp>
      <p:sp>
        <p:nvSpPr>
          <p:cNvPr id="2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31789A11-772D-4C77-9AD4-7901C3F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2412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25" name="matrix-cell-0-2-label">
            <a:extLst xmlns:a="http://schemas.openxmlformats.org/drawingml/2006/main">
              <a:ext uri="{FF2B5EF4-FFF2-40B4-BE49-F238E27FC236}">
                <a16:creationId xmlns:a16="http://schemas.microsoft.com/office/drawing/2014/main" id="{56F1E7FE-CA43-46B0-BEA7-D9FE1D98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003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721/721</a:t>
            </a:r>
          </a:p>
        </p:txBody>
      </p:sp>
      <p:sp>
        <p:nvSpPr>
          <p:cNvPr id="26" name="matrix-cell-0-2-moves">
            <a:extLst xmlns:a="http://schemas.openxmlformats.org/drawingml/2006/main">
              <a:ext uri="{FF2B5EF4-FFF2-40B4-BE49-F238E27FC236}">
                <a16:creationId xmlns:a16="http://schemas.microsoft.com/office/drawing/2014/main" id="{CCBBFD71-BEE0-4EAC-B4BD-BE534BD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45,906 步</a:t>
            </a:r>
          </a:p>
        </p:txBody>
      </p:sp>
      <p:sp>
        <p:nvSpPr>
          <p:cNvPr id="27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17E9692B-41DF-408B-949C-7E5D27B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52412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28" name="matrix-cell-0-3-label">
            <a:extLst xmlns:a="http://schemas.openxmlformats.org/drawingml/2006/main">
              <a:ext uri="{FF2B5EF4-FFF2-40B4-BE49-F238E27FC236}">
                <a16:creationId xmlns:a16="http://schemas.microsoft.com/office/drawing/2014/main" id="{FDC20E46-5734-4DA8-BA91-EA8362E8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6003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840/840</a:t>
            </a:r>
          </a:p>
        </p:txBody>
      </p:sp>
      <p:sp>
        <p:nvSpPr>
          <p:cNvPr id="29" name="matrix-cell-0-3-moves">
            <a:extLst xmlns:a="http://schemas.openxmlformats.org/drawingml/2006/main">
              <a:ext uri="{FF2B5EF4-FFF2-40B4-BE49-F238E27FC236}">
                <a16:creationId xmlns:a16="http://schemas.microsoft.com/office/drawing/2014/main" id="{3DD4159B-8A83-4445-A544-5EAED56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78130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55,865 步</a:t>
            </a:r>
          </a:p>
        </p:txBody>
      </p:sp>
      <p:sp>
        <p:nvSpPr>
          <p:cNvPr id="30" name="matrix-row-1-label-bg">
            <a:extLst xmlns:a="http://schemas.openxmlformats.org/drawingml/2006/main">
              <a:ext uri="{FF2B5EF4-FFF2-40B4-BE49-F238E27FC236}">
                <a16:creationId xmlns:a16="http://schemas.microsoft.com/office/drawing/2014/main" id="{0FF9AB56-BBE5-4ADB-9EE1-8B3CE7E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4655"/>
            <a:ext cx="91440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31" name="matrix-row-1-label">
            <a:extLst xmlns:a="http://schemas.openxmlformats.org/drawingml/2006/main">
              <a:ext uri="{FF2B5EF4-FFF2-40B4-BE49-F238E27FC236}">
                <a16:creationId xmlns:a16="http://schemas.microsoft.com/office/drawing/2014/main" id="{50FFE549-ED7C-4D22-AB9B-DF9D1EE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59430"/>
            <a:ext cx="80010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论文 Wang BS-B</a:t>
            </a:r>
          </a:p>
        </p:txBody>
      </p:sp>
      <p:sp>
        <p:nvSpPr>
          <p:cNvPr id="32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12CA6397-64BA-4977-862C-A1CFCC82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465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33" name="matrix-cell-1-0-label">
            <a:extLst xmlns:a="http://schemas.openxmlformats.org/drawingml/2006/main">
              <a:ext uri="{FF2B5EF4-FFF2-40B4-BE49-F238E27FC236}">
                <a16:creationId xmlns:a16="http://schemas.microsoft.com/office/drawing/2014/main" id="{6C7AA89D-5ECA-4F26-B668-CA9374D8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3085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30/30</a:t>
            </a:r>
          </a:p>
        </p:txBody>
      </p:sp>
      <p:sp>
        <p:nvSpPr>
          <p:cNvPr id="34" name="matrix-cell-1-0-moves">
            <a:extLst xmlns:a="http://schemas.openxmlformats.org/drawingml/2006/main">
              <a:ext uri="{FF2B5EF4-FFF2-40B4-BE49-F238E27FC236}">
                <a16:creationId xmlns:a16="http://schemas.microsoft.com/office/drawing/2014/main" id="{C4CAA69B-E7E2-47C8-BD74-6D26757D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183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757 步</a:t>
            </a:r>
          </a:p>
        </p:txBody>
      </p:sp>
      <p:sp>
        <p:nvSpPr>
          <p:cNvPr id="35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F902B640-978B-488C-9FAD-5B34243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5465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36" name="matrix-cell-1-1-label">
            <a:extLst xmlns:a="http://schemas.openxmlformats.org/drawingml/2006/main">
              <a:ext uri="{FF2B5EF4-FFF2-40B4-BE49-F238E27FC236}">
                <a16:creationId xmlns:a16="http://schemas.microsoft.com/office/drawing/2014/main" id="{0FEB0876-9C86-4D07-823B-DDEE5C1C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3085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120/120</a:t>
            </a:r>
          </a:p>
        </p:txBody>
      </p:sp>
      <p:sp>
        <p:nvSpPr>
          <p:cNvPr id="37" name="matrix-cell-1-1-moves">
            <a:extLst xmlns:a="http://schemas.openxmlformats.org/drawingml/2006/main">
              <a:ext uri="{FF2B5EF4-FFF2-40B4-BE49-F238E27FC236}">
                <a16:creationId xmlns:a16="http://schemas.microsoft.com/office/drawing/2014/main" id="{9878B2F9-EBF8-4048-BB8D-EE775AE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1183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4,569 步</a:t>
            </a:r>
          </a:p>
        </p:txBody>
      </p:sp>
      <p:sp>
        <p:nvSpPr>
          <p:cNvPr id="3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9BCD014F-877E-4ABD-BF17-9C4A8F2C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465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39" name="matrix-cell-1-2-label">
            <a:extLst xmlns:a="http://schemas.openxmlformats.org/drawingml/2006/main">
              <a:ext uri="{FF2B5EF4-FFF2-40B4-BE49-F238E27FC236}">
                <a16:creationId xmlns:a16="http://schemas.microsoft.com/office/drawing/2014/main" id="{F19D5866-B9F9-4FE1-A98C-59C8789A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3085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rPr>
              <a:t>141/721</a:t>
            </a:r>
          </a:p>
        </p:txBody>
      </p:sp>
      <p:sp>
        <p:nvSpPr>
          <p:cNvPr id="40" name="matrix-cell-1-2-moves">
            <a:extLst xmlns:a="http://schemas.openxmlformats.org/drawingml/2006/main">
              <a:ext uri="{FF2B5EF4-FFF2-40B4-BE49-F238E27FC236}">
                <a16:creationId xmlns:a16="http://schemas.microsoft.com/office/drawing/2014/main" id="{72F7C445-2004-4375-8554-F1AF89FF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1183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5,533 步</a:t>
            </a:r>
          </a:p>
        </p:txBody>
      </p:sp>
      <p:sp>
        <p:nvSpPr>
          <p:cNvPr id="41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20D70D4E-995F-4702-94E0-B1C0FA9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95465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42" name="matrix-cell-1-3-label">
            <a:extLst xmlns:a="http://schemas.openxmlformats.org/drawingml/2006/main">
              <a:ext uri="{FF2B5EF4-FFF2-40B4-BE49-F238E27FC236}">
                <a16:creationId xmlns:a16="http://schemas.microsoft.com/office/drawing/2014/main" id="{FFBE7525-7CAF-42FE-AB6F-EC34A2F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3085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rPr>
              <a:t>762/840</a:t>
            </a:r>
          </a:p>
        </p:txBody>
      </p:sp>
      <p:sp>
        <p:nvSpPr>
          <p:cNvPr id="43" name="matrix-cell-1-3-moves">
            <a:extLst xmlns:a="http://schemas.openxmlformats.org/drawingml/2006/main">
              <a:ext uri="{FF2B5EF4-FFF2-40B4-BE49-F238E27FC236}">
                <a16:creationId xmlns:a16="http://schemas.microsoft.com/office/drawing/2014/main" id="{7A0849E2-1453-4F1E-B9BE-287B7EB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1183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27,117 步</a:t>
            </a:r>
          </a:p>
        </p:txBody>
      </p:sp>
      <p:sp>
        <p:nvSpPr>
          <p:cNvPr id="44" name="matrix-row-2-label-bg">
            <a:extLst xmlns:a="http://schemas.openxmlformats.org/drawingml/2006/main">
              <a:ext uri="{FF2B5EF4-FFF2-40B4-BE49-F238E27FC236}">
                <a16:creationId xmlns:a16="http://schemas.microsoft.com/office/drawing/2014/main" id="{4303C08E-D919-454D-B6AE-D2612A5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5185"/>
            <a:ext cx="91440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45" name="matrix-row-2-label">
            <a:extLst xmlns:a="http://schemas.openxmlformats.org/drawingml/2006/main">
              <a:ext uri="{FF2B5EF4-FFF2-40B4-BE49-F238E27FC236}">
                <a16:creationId xmlns:a16="http://schemas.microsoft.com/office/drawing/2014/main" id="{2506234B-FB93-4C43-8AE5-FD9BF7E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89960"/>
            <a:ext cx="80010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论文 BS-FRG</a:t>
            </a:r>
          </a:p>
        </p:txBody>
      </p:sp>
      <p:sp>
        <p:nvSpPr>
          <p:cNvPr id="46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3AD8A729-C034-4223-AF96-58644D6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8518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47" name="matrix-cell-2-0-label">
            <a:extLst xmlns:a="http://schemas.openxmlformats.org/drawingml/2006/main">
              <a:ext uri="{FF2B5EF4-FFF2-40B4-BE49-F238E27FC236}">
                <a16:creationId xmlns:a16="http://schemas.microsoft.com/office/drawing/2014/main" id="{74EC0905-3DA9-465E-B5BF-6200AA7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138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30/30</a:t>
            </a:r>
          </a:p>
        </p:txBody>
      </p:sp>
      <p:sp>
        <p:nvSpPr>
          <p:cNvPr id="48" name="matrix-cell-2-0-moves">
            <a:extLst xmlns:a="http://schemas.openxmlformats.org/drawingml/2006/main">
              <a:ext uri="{FF2B5EF4-FFF2-40B4-BE49-F238E27FC236}">
                <a16:creationId xmlns:a16="http://schemas.microsoft.com/office/drawing/2014/main" id="{8A9758CF-F3FC-4D31-B1CE-30EFEAD7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4236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516 步</a:t>
            </a:r>
          </a:p>
        </p:txBody>
      </p:sp>
      <p:sp>
        <p:nvSpPr>
          <p:cNvPr id="49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49BBAE0A-06C7-4F85-82C4-5BB0FCD2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518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50" name="matrix-cell-2-1-label">
            <a:extLst xmlns:a="http://schemas.openxmlformats.org/drawingml/2006/main">
              <a:ext uri="{FF2B5EF4-FFF2-40B4-BE49-F238E27FC236}">
                <a16:creationId xmlns:a16="http://schemas.microsoft.com/office/drawing/2014/main" id="{D513C1C7-4386-402C-A0C7-714AB71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6138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120/120</a:t>
            </a:r>
          </a:p>
        </p:txBody>
      </p:sp>
      <p:sp>
        <p:nvSpPr>
          <p:cNvPr id="51" name="matrix-cell-2-1-moves">
            <a:extLst xmlns:a="http://schemas.openxmlformats.org/drawingml/2006/main">
              <a:ext uri="{FF2B5EF4-FFF2-40B4-BE49-F238E27FC236}">
                <a16:creationId xmlns:a16="http://schemas.microsoft.com/office/drawing/2014/main" id="{9195235F-30DE-4152-BBF1-EEDAB189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64236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4,121 步</a:t>
            </a:r>
          </a:p>
        </p:txBody>
      </p:sp>
      <p:sp>
        <p:nvSpPr>
          <p:cNvPr id="5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D3441F08-6832-4037-ADB7-8C9E71D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518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53" name="matrix-cell-2-2-label">
            <a:extLst xmlns:a="http://schemas.openxmlformats.org/drawingml/2006/main">
              <a:ext uri="{FF2B5EF4-FFF2-40B4-BE49-F238E27FC236}">
                <a16:creationId xmlns:a16="http://schemas.microsoft.com/office/drawing/2014/main" id="{72B7B0AD-BBDB-46A7-8C39-BA3B09C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6138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719/721</a:t>
            </a:r>
          </a:p>
        </p:txBody>
      </p:sp>
      <p:sp>
        <p:nvSpPr>
          <p:cNvPr id="54" name="matrix-cell-2-2-moves">
            <a:extLst xmlns:a="http://schemas.openxmlformats.org/drawingml/2006/main">
              <a:ext uri="{FF2B5EF4-FFF2-40B4-BE49-F238E27FC236}">
                <a16:creationId xmlns:a16="http://schemas.microsoft.com/office/drawing/2014/main" id="{8F809AEB-F21C-40FF-9DE5-34F6EFD6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4236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51,509 步</a:t>
            </a:r>
          </a:p>
        </p:txBody>
      </p:sp>
      <p:sp>
        <p:nvSpPr>
          <p:cNvPr id="55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C2D78752-F6B9-4B99-8E66-7EFAF5B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38518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56" name="matrix-cell-2-3-label">
            <a:extLst xmlns:a="http://schemas.openxmlformats.org/drawingml/2006/main">
              <a:ext uri="{FF2B5EF4-FFF2-40B4-BE49-F238E27FC236}">
                <a16:creationId xmlns:a16="http://schemas.microsoft.com/office/drawing/2014/main" id="{614537F3-E326-47FE-8B27-2AF1F817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138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826/840</a:t>
            </a:r>
          </a:p>
        </p:txBody>
      </p:sp>
      <p:sp>
        <p:nvSpPr>
          <p:cNvPr id="57" name="matrix-cell-2-3-moves">
            <a:extLst xmlns:a="http://schemas.openxmlformats.org/drawingml/2006/main">
              <a:ext uri="{FF2B5EF4-FFF2-40B4-BE49-F238E27FC236}">
                <a16:creationId xmlns:a16="http://schemas.microsoft.com/office/drawing/2014/main" id="{ED730437-E12A-445D-AC0E-53E66E0A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4236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46,299 步</a:t>
            </a:r>
          </a:p>
        </p:txBody>
      </p:sp>
      <p:sp>
        <p:nvSpPr>
          <p:cNvPr id="58" name="matrix-row-3-label-bg">
            <a:extLst xmlns:a="http://schemas.openxmlformats.org/drawingml/2006/main">
              <a:ext uri="{FF2B5EF4-FFF2-40B4-BE49-F238E27FC236}">
                <a16:creationId xmlns:a16="http://schemas.microsoft.com/office/drawing/2014/main" id="{563FCE94-8FFC-4E9D-8FF2-70CB8346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5715"/>
            <a:ext cx="91440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59" name="matrix-row-3-label">
            <a:extLst xmlns:a="http://schemas.openxmlformats.org/drawingml/2006/main">
              <a:ext uri="{FF2B5EF4-FFF2-40B4-BE49-F238E27FC236}">
                <a16:creationId xmlns:a16="http://schemas.microsoft.com/office/drawing/2014/main" id="{DF108F3F-D64C-4EDB-B6A8-ACCE0E99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20490"/>
            <a:ext cx="80010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A* 无证明</a:t>
            </a:r>
          </a:p>
        </p:txBody>
      </p:sp>
      <p:sp>
        <p:nvSpPr>
          <p:cNvPr id="60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F262C0CC-0880-4CE8-A9E7-6E00613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571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8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61" name="matrix-cell-3-0-label">
            <a:extLst xmlns:a="http://schemas.openxmlformats.org/drawingml/2006/main">
              <a:ext uri="{FF2B5EF4-FFF2-40B4-BE49-F238E27FC236}">
                <a16:creationId xmlns:a16="http://schemas.microsoft.com/office/drawing/2014/main" id="{3C4559BB-88DB-4858-8C83-A884232D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9191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256A35"/>
                </a:solidFill>
                <a:latin typeface="Microsoft YaHei"/>
                <a:ea typeface="Microsoft YaHei"/>
                <a:cs typeface="Microsoft YaHei"/>
              </a:rPr>
              <a:t>30/30</a:t>
            </a:r>
          </a:p>
        </p:txBody>
      </p:sp>
      <p:sp>
        <p:nvSpPr>
          <p:cNvPr id="62" name="matrix-cell-3-0-moves">
            <a:extLst xmlns:a="http://schemas.openxmlformats.org/drawingml/2006/main">
              <a:ext uri="{FF2B5EF4-FFF2-40B4-BE49-F238E27FC236}">
                <a16:creationId xmlns:a16="http://schemas.microsoft.com/office/drawing/2014/main" id="{E3BCC1EB-5131-489C-AF6B-A443F581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7289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514 步</a:t>
            </a:r>
          </a:p>
        </p:txBody>
      </p:sp>
      <p:sp>
        <p:nvSpPr>
          <p:cNvPr id="63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40CDA691-F10F-4DE0-87B9-3571CAD3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1571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64" name="matrix-cell-3-1-label">
            <a:extLst xmlns:a="http://schemas.openxmlformats.org/drawingml/2006/main">
              <a:ext uri="{FF2B5EF4-FFF2-40B4-BE49-F238E27FC236}">
                <a16:creationId xmlns:a16="http://schemas.microsoft.com/office/drawing/2014/main" id="{0131EA57-3DA3-4F48-BDE5-BDFCF68C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9191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不适用</a:t>
            </a:r>
          </a:p>
        </p:txBody>
      </p:sp>
      <p:sp>
        <p:nvSpPr>
          <p:cNvPr id="65" name="matrix-cell-3-1-moves">
            <a:extLst xmlns:a="http://schemas.openxmlformats.org/drawingml/2006/main">
              <a:ext uri="{FF2B5EF4-FFF2-40B4-BE49-F238E27FC236}">
                <a16:creationId xmlns:a16="http://schemas.microsoft.com/office/drawing/2014/main" id="{139F1096-592D-432C-9499-B3D691B3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07289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不可扩展</a:t>
            </a:r>
          </a:p>
        </p:txBody>
      </p:sp>
      <p:sp>
        <p:nvSpPr>
          <p:cNvPr id="6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76B2124B-37E1-46B4-94BA-87E2A0D9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571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67" name="matrix-cell-3-2-label">
            <a:extLst xmlns:a="http://schemas.openxmlformats.org/drawingml/2006/main">
              <a:ext uri="{FF2B5EF4-FFF2-40B4-BE49-F238E27FC236}">
                <a16:creationId xmlns:a16="http://schemas.microsoft.com/office/drawing/2014/main" id="{D7BE895D-14DC-48E9-8492-C33AF3D3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9191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不适用</a:t>
            </a:r>
          </a:p>
        </p:txBody>
      </p:sp>
      <p:sp>
        <p:nvSpPr>
          <p:cNvPr id="68" name="matrix-cell-3-2-moves">
            <a:extLst xmlns:a="http://schemas.openxmlformats.org/drawingml/2006/main">
              <a:ext uri="{FF2B5EF4-FFF2-40B4-BE49-F238E27FC236}">
                <a16:creationId xmlns:a16="http://schemas.microsoft.com/office/drawing/2014/main" id="{49E9A1F8-FB1A-43DD-8D82-44F1241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7289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不可扩展</a:t>
            </a:r>
          </a:p>
        </p:txBody>
      </p:sp>
      <p:sp>
        <p:nvSpPr>
          <p:cNvPr id="69" name="matrix-cell-3-3">
            <a:extLst xmlns:a="http://schemas.openxmlformats.org/drawingml/2006/main">
              <a:ext uri="{FF2B5EF4-FFF2-40B4-BE49-F238E27FC236}">
                <a16:creationId xmlns:a16="http://schemas.microsoft.com/office/drawing/2014/main" id="{82726618-7573-4FA2-B647-A83DA593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81571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70" name="matrix-cell-3-3-label">
            <a:extLst xmlns:a="http://schemas.openxmlformats.org/drawingml/2006/main">
              <a:ext uri="{FF2B5EF4-FFF2-40B4-BE49-F238E27FC236}">
                <a16:creationId xmlns:a16="http://schemas.microsoft.com/office/drawing/2014/main" id="{FB3888BF-1E96-4F31-A594-59B894C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9191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不适用</a:t>
            </a:r>
          </a:p>
        </p:txBody>
      </p:sp>
      <p:sp>
        <p:nvSpPr>
          <p:cNvPr id="71" name="matrix-cell-3-3-moves">
            <a:extLst xmlns:a="http://schemas.openxmlformats.org/drawingml/2006/main">
              <a:ext uri="{FF2B5EF4-FFF2-40B4-BE49-F238E27FC236}">
                <a16:creationId xmlns:a16="http://schemas.microsoft.com/office/drawing/2014/main" id="{F3FA6677-AB63-450A-B777-AAB88EBD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7289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不可扩展</a:t>
            </a:r>
          </a:p>
        </p:txBody>
      </p:sp>
      <p:sp>
        <p:nvSpPr>
          <p:cNvPr id="72" name="matrix-row-4-label-bg">
            <a:extLst xmlns:a="http://schemas.openxmlformats.org/drawingml/2006/main">
              <a:ext uri="{FF2B5EF4-FFF2-40B4-BE49-F238E27FC236}">
                <a16:creationId xmlns:a16="http://schemas.microsoft.com/office/drawing/2014/main" id="{95F774A6-1274-4A8A-8CA4-406773F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6245"/>
            <a:ext cx="91440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73" name="matrix-row-4-label">
            <a:extLst xmlns:a="http://schemas.openxmlformats.org/drawingml/2006/main">
              <a:ext uri="{FF2B5EF4-FFF2-40B4-BE49-F238E27FC236}">
                <a16:creationId xmlns:a16="http://schemas.microsoft.com/office/drawing/2014/main" id="{AA5B9EB4-AC68-4DD4-8D51-96577CB2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51020"/>
            <a:ext cx="80010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经典 Beam</a:t>
            </a:r>
          </a:p>
        </p:txBody>
      </p:sp>
      <p:sp>
        <p:nvSpPr>
          <p:cNvPr id="74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E425EE6C-7E92-4198-969E-F36C0C3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624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75" name="matrix-cell-4-0-label">
            <a:extLst xmlns:a="http://schemas.openxmlformats.org/drawingml/2006/main">
              <a:ext uri="{FF2B5EF4-FFF2-40B4-BE49-F238E27FC236}">
                <a16:creationId xmlns:a16="http://schemas.microsoft.com/office/drawing/2014/main" id="{543FE0BA-56EC-49E2-9525-05324E26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244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rPr>
              <a:t>28/30</a:t>
            </a:r>
          </a:p>
        </p:txBody>
      </p:sp>
      <p:sp>
        <p:nvSpPr>
          <p:cNvPr id="76" name="matrix-cell-4-0-moves">
            <a:extLst xmlns:a="http://schemas.openxmlformats.org/drawingml/2006/main">
              <a:ext uri="{FF2B5EF4-FFF2-40B4-BE49-F238E27FC236}">
                <a16:creationId xmlns:a16="http://schemas.microsoft.com/office/drawing/2014/main" id="{B021CC29-4EA3-4592-A03C-CB3B48F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0342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455 步</a:t>
            </a:r>
          </a:p>
        </p:txBody>
      </p:sp>
      <p:sp>
        <p:nvSpPr>
          <p:cNvPr id="77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D4FD6111-CA86-4B68-99AE-44AE0EA2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624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78" name="matrix-cell-4-1-label">
            <a:extLst xmlns:a="http://schemas.openxmlformats.org/drawingml/2006/main">
              <a:ext uri="{FF2B5EF4-FFF2-40B4-BE49-F238E27FC236}">
                <a16:creationId xmlns:a16="http://schemas.microsoft.com/office/drawing/2014/main" id="{359B60FA-725E-4B2B-9BF9-BDB3DA1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32244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rPr>
              <a:t>84/120</a:t>
            </a:r>
          </a:p>
        </p:txBody>
      </p:sp>
      <p:sp>
        <p:nvSpPr>
          <p:cNvPr id="79" name="matrix-cell-4-1-moves">
            <a:extLst xmlns:a="http://schemas.openxmlformats.org/drawingml/2006/main">
              <a:ext uri="{FF2B5EF4-FFF2-40B4-BE49-F238E27FC236}">
                <a16:creationId xmlns:a16="http://schemas.microsoft.com/office/drawing/2014/main" id="{B63D12F4-F5DC-459D-ADD8-A84944D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0342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2,711 步</a:t>
            </a:r>
          </a:p>
        </p:txBody>
      </p:sp>
      <p:sp>
        <p:nvSpPr>
          <p:cNvPr id="8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D764C337-6D21-458C-9BBA-6A1339E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4624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81" name="matrix-cell-4-2-label">
            <a:extLst xmlns:a="http://schemas.openxmlformats.org/drawingml/2006/main">
              <a:ext uri="{FF2B5EF4-FFF2-40B4-BE49-F238E27FC236}">
                <a16:creationId xmlns:a16="http://schemas.microsoft.com/office/drawing/2014/main" id="{929E7442-A758-446B-BAF8-4E2261F7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2244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9C4A20"/>
                </a:solidFill>
                <a:latin typeface="Microsoft YaHei"/>
                <a:ea typeface="Microsoft YaHei"/>
                <a:cs typeface="Microsoft YaHei"/>
              </a:rPr>
              <a:t>642/721</a:t>
            </a:r>
          </a:p>
        </p:txBody>
      </p:sp>
      <p:sp>
        <p:nvSpPr>
          <p:cNvPr id="82" name="matrix-cell-4-2-moves">
            <a:extLst xmlns:a="http://schemas.openxmlformats.org/drawingml/2006/main">
              <a:ext uri="{FF2B5EF4-FFF2-40B4-BE49-F238E27FC236}">
                <a16:creationId xmlns:a16="http://schemas.microsoft.com/office/drawing/2014/main" id="{5653F0AE-43D1-4A68-8BC9-4356E8CF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0342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37,180 步</a:t>
            </a:r>
          </a:p>
        </p:txBody>
      </p:sp>
      <p:sp>
        <p:nvSpPr>
          <p:cNvPr id="83" name="matrix-cell-4-3">
            <a:extLst xmlns:a="http://schemas.openxmlformats.org/drawingml/2006/main">
              <a:ext uri="{FF2B5EF4-FFF2-40B4-BE49-F238E27FC236}">
                <a16:creationId xmlns:a16="http://schemas.microsoft.com/office/drawing/2014/main" id="{A6731BDE-D1C0-421A-AAA9-A3AD4461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46245"/>
            <a:ext cx="676275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CCC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84" name="matrix-cell-4-3-label">
            <a:extLst xmlns:a="http://schemas.openxmlformats.org/drawingml/2006/main">
              <a:ext uri="{FF2B5EF4-FFF2-40B4-BE49-F238E27FC236}">
                <a16:creationId xmlns:a16="http://schemas.microsoft.com/office/drawing/2014/main" id="{D266620B-1280-45D2-9346-B050AD65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32244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1">
                <a:solidFill>
                  <a:srgbClr val="A61C1C"/>
                </a:solidFill>
                <a:latin typeface="Microsoft YaHei"/>
                <a:ea typeface="Microsoft YaHei"/>
                <a:cs typeface="Microsoft YaHei"/>
              </a:rPr>
              <a:t>668/840</a:t>
            </a:r>
          </a:p>
        </p:txBody>
      </p:sp>
      <p:sp>
        <p:nvSpPr>
          <p:cNvPr id="85" name="matrix-cell-4-3-moves">
            <a:extLst xmlns:a="http://schemas.openxmlformats.org/drawingml/2006/main">
              <a:ext uri="{FF2B5EF4-FFF2-40B4-BE49-F238E27FC236}">
                <a16:creationId xmlns:a16="http://schemas.microsoft.com/office/drawing/2014/main" id="{A1BD8C6A-F7CB-4111-920C-3C8B4EBC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03420"/>
            <a:ext cx="600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25,312 步</a:t>
            </a:r>
          </a:p>
        </p:txBody>
      </p:sp>
      <p:sp>
        <p:nvSpPr>
          <p:cNvPr id="86" name="metric-rule">
            <a:extLst xmlns:a="http://schemas.openxmlformats.org/drawingml/2006/main">
              <a:ext uri="{FF2B5EF4-FFF2-40B4-BE49-F238E27FC236}">
                <a16:creationId xmlns:a16="http://schemas.microsoft.com/office/drawing/2014/main" id="{28A356B7-8E4D-4B60-959B-1E41F264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7" name="metric-1">
            <a:extLst xmlns:a="http://schemas.openxmlformats.org/drawingml/2006/main">
              <a:ext uri="{FF2B5EF4-FFF2-40B4-BE49-F238E27FC236}">
                <a16:creationId xmlns:a16="http://schemas.microsoft.com/office/drawing/2014/main" id="{1608FC88-4D98-45B2-9356-A606374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v4.3 保持 1,681/1,681 全解</a:t>
            </a:r>
          </a:p>
        </p:txBody>
      </p:sp>
      <p:sp>
        <p:nvSpPr>
          <p:cNvPr id="8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AAD0D079-8247-45F3-805F-E245AB8B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Open120 + BF + CV 总步数为 105,530；Real30 分支总步数为 525。</a:t>
            </a:r>
          </a:p>
        </p:txBody>
      </p:sp>
      <p:sp>
        <p:nvSpPr>
          <p:cNvPr id="89" name="metric-2">
            <a:extLst xmlns:a="http://schemas.openxmlformats.org/drawingml/2006/main">
              <a:ext uri="{FF2B5EF4-FFF2-40B4-BE49-F238E27FC236}">
                <a16:creationId xmlns:a16="http://schemas.microsoft.com/office/drawing/2014/main" id="{65BBAEE4-581D-41FE-8D53-7EAB2406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816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BS-FRG 在 CV 上更短，但没有全解</a:t>
            </a:r>
          </a:p>
        </p:txBody>
      </p:sp>
      <p:sp>
        <p:nvSpPr>
          <p:cNvPr id="9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765450C5-6212-4C16-A8CB-70D10F3C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91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5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下一步应在不丢全解门槛的前提下，把路径压缩前移到 beam 主搜索内部。</a:t>
            </a:r>
          </a:p>
        </p:txBody>
      </p:sp>
      <p:sp>
        <p:nvSpPr>
          <p:cNvPr id="91" name="suite-note">
            <a:extLst xmlns:a="http://schemas.openxmlformats.org/drawingml/2006/main">
              <a:ext uri="{FF2B5EF4-FFF2-40B4-BE49-F238E27FC236}">
                <a16:creationId xmlns:a16="http://schemas.microsoft.com/office/drawing/2014/main" id="{29B17D31-BFCE-440E-B267-55E2646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难度指数：0.30 规模 + 0.25 空间压力 + 0.30 初始错位比例 + 0.15 稀缺性</a:t>
            </a:r>
          </a:p>
        </p:txBody>
      </p:sp>
      <p:sp>
        <p:nvSpPr>
          <p:cNvPr id="92" name="method-note">
            <a:extLst xmlns:a="http://schemas.openxmlformats.org/drawingml/2006/main">
              <a:ext uri="{FF2B5EF4-FFF2-40B4-BE49-F238E27FC236}">
                <a16:creationId xmlns:a16="http://schemas.microsoft.com/office/drawing/2014/main" id="{15996CF7-3D9B-4664-B085-143F59BE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数据口径：v4.3 为 Open120/BF/CV t120 全量与 Real30 t120；空间压力=容量占用+接收栈压力+最高堆压力+安全接收压力。对比算法沿用既有参考运行。</a:t>
            </a:r>
          </a:p>
        </p:txBody>
      </p:sp>
    </p:spTree>
    <p:extLst>
      <p:ext uri="{BB962C8B-B14F-4D97-AF65-F5344CB8AC3E}">
        <p14:creationId xmlns:p14="http://schemas.microsoft.com/office/powerpoint/2010/main" val="1850815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2026-07-10T01:28:40.6790000Z</dcterms:created>
  <dcterms:modified xsi:type="dcterms:W3CDTF">2026-07-10T01:28:40.6790000Z</dcterms:modified>
</coreProperties>
</file>